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60" r:id="rId4"/>
    <p:sldId id="261" r:id="rId5"/>
    <p:sldId id="259" r:id="rId6"/>
    <p:sldId id="262" r:id="rId7"/>
    <p:sldId id="267" r:id="rId8"/>
    <p:sldId id="263" r:id="rId9"/>
    <p:sldId id="265" r:id="rId10"/>
    <p:sldId id="266" r:id="rId11"/>
    <p:sldId id="269" r:id="rId12"/>
    <p:sldId id="258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11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1D9F2-8E6E-4F1D-874C-5009A1BEBF98}" type="datetimeFigureOut">
              <a:rPr lang="ru-RU" smtClean="0"/>
              <a:t>06.09.2021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5B1AD-DF03-4A2A-9675-43C090C711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311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1D9F2-8E6E-4F1D-874C-5009A1BEBF98}" type="datetimeFigureOut">
              <a:rPr lang="ru-RU" smtClean="0"/>
              <a:t>06.09.2021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5B1AD-DF03-4A2A-9675-43C090C711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9581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1D9F2-8E6E-4F1D-874C-5009A1BEBF98}" type="datetimeFigureOut">
              <a:rPr lang="ru-RU" smtClean="0"/>
              <a:t>06.09.2021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5B1AD-DF03-4A2A-9675-43C090C711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5527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1D9F2-8E6E-4F1D-874C-5009A1BEBF98}" type="datetimeFigureOut">
              <a:rPr lang="ru-RU" smtClean="0"/>
              <a:t>06.09.2021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5B1AD-DF03-4A2A-9675-43C090C711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6281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1D9F2-8E6E-4F1D-874C-5009A1BEBF98}" type="datetimeFigureOut">
              <a:rPr lang="ru-RU" smtClean="0"/>
              <a:t>06.09.2021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5B1AD-DF03-4A2A-9675-43C090C711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478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1D9F2-8E6E-4F1D-874C-5009A1BEBF98}" type="datetimeFigureOut">
              <a:rPr lang="ru-RU" smtClean="0"/>
              <a:t>06.09.2021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5B1AD-DF03-4A2A-9675-43C090C711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9764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1D9F2-8E6E-4F1D-874C-5009A1BEBF98}" type="datetimeFigureOut">
              <a:rPr lang="ru-RU" smtClean="0"/>
              <a:t>06.09.2021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5B1AD-DF03-4A2A-9675-43C090C711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2994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1D9F2-8E6E-4F1D-874C-5009A1BEBF98}" type="datetimeFigureOut">
              <a:rPr lang="ru-RU" smtClean="0"/>
              <a:t>06.09.2021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5B1AD-DF03-4A2A-9675-43C090C711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6964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1D9F2-8E6E-4F1D-874C-5009A1BEBF98}" type="datetimeFigureOut">
              <a:rPr lang="ru-RU" smtClean="0"/>
              <a:t>06.09.2021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5B1AD-DF03-4A2A-9675-43C090C711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7785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1D9F2-8E6E-4F1D-874C-5009A1BEBF98}" type="datetimeFigureOut">
              <a:rPr lang="ru-RU" smtClean="0"/>
              <a:t>06.09.2021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5B1AD-DF03-4A2A-9675-43C090C711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8974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1D9F2-8E6E-4F1D-874C-5009A1BEBF98}" type="datetimeFigureOut">
              <a:rPr lang="ru-RU" smtClean="0"/>
              <a:t>06.09.2021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5B1AD-DF03-4A2A-9675-43C090C71136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565998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1D9F2-8E6E-4F1D-874C-5009A1BEBF98}" type="datetimeFigureOut">
              <a:rPr lang="ru-RU" smtClean="0"/>
              <a:t>06.09.2021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5B1AD-DF03-4A2A-9675-43C090C711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53161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1D9F2-8E6E-4F1D-874C-5009A1BEBF98}" type="datetimeFigureOut">
              <a:rPr lang="ru-RU" smtClean="0"/>
              <a:t>06.09.2021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5B1AD-DF03-4A2A-9675-43C090C71136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569915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1D9F2-8E6E-4F1D-874C-5009A1BEBF98}" type="datetimeFigureOut">
              <a:rPr lang="ru-RU" smtClean="0"/>
              <a:t>06.09.2021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5B1AD-DF03-4A2A-9675-43C090C711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42660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1D9F2-8E6E-4F1D-874C-5009A1BEBF98}" type="datetimeFigureOut">
              <a:rPr lang="ru-RU" smtClean="0"/>
              <a:t>06.09.2021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5B1AD-DF03-4A2A-9675-43C090C711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85493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1D9F2-8E6E-4F1D-874C-5009A1BEBF98}" type="datetimeFigureOut">
              <a:rPr lang="ru-RU" smtClean="0"/>
              <a:t>06.09.2021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5B1AD-DF03-4A2A-9675-43C090C711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8022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31D9F2-8E6E-4F1D-874C-5009A1BEBF98}" type="datetimeFigureOut">
              <a:rPr lang="ru-RU" smtClean="0"/>
              <a:t>06.09.2021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6C5B1AD-DF03-4A2A-9675-43C090C711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2472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7747654" y="5518598"/>
            <a:ext cx="4260881" cy="1094704"/>
          </a:xfrm>
        </p:spPr>
        <p:txBody>
          <a:bodyPr>
            <a:normAutofit fontScale="77500" lnSpcReduction="20000"/>
          </a:bodyPr>
          <a:lstStyle/>
          <a:p>
            <a:r>
              <a:rPr lang="ru-RU" sz="5400" dirty="0" smtClean="0">
                <a:solidFill>
                  <a:schemeClr val="tx1"/>
                </a:solidFill>
              </a:rPr>
              <a:t>Команда </a:t>
            </a:r>
            <a:r>
              <a:rPr lang="en-US" sz="5400" dirty="0" err="1" smtClean="0">
                <a:solidFill>
                  <a:schemeClr val="tx1"/>
                </a:solidFill>
              </a:rPr>
              <a:t>ReStart</a:t>
            </a:r>
            <a:endParaRPr lang="en-US" sz="5400" dirty="0" smtClean="0">
              <a:solidFill>
                <a:schemeClr val="tx1"/>
              </a:solidFill>
            </a:endParaRPr>
          </a:p>
          <a:p>
            <a:endParaRPr lang="ru-RU" sz="5400" dirty="0"/>
          </a:p>
        </p:txBody>
      </p:sp>
      <p:sp>
        <p:nvSpPr>
          <p:cNvPr id="6" name="Подзаголовок 2"/>
          <p:cNvSpPr txBox="1">
            <a:spLocks/>
          </p:cNvSpPr>
          <p:nvPr/>
        </p:nvSpPr>
        <p:spPr>
          <a:xfrm>
            <a:off x="1776770" y="3503054"/>
            <a:ext cx="8101325" cy="12524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21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8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6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endParaRPr lang="ru-RU" sz="5400" dirty="0"/>
          </a:p>
        </p:txBody>
      </p:sp>
      <p:sp>
        <p:nvSpPr>
          <p:cNvPr id="7" name="Подзаголовок 2"/>
          <p:cNvSpPr txBox="1">
            <a:spLocks/>
          </p:cNvSpPr>
          <p:nvPr/>
        </p:nvSpPr>
        <p:spPr>
          <a:xfrm>
            <a:off x="0" y="178623"/>
            <a:ext cx="12067503" cy="313761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21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8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6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0" dirty="0" smtClean="0"/>
              <a:t>Кейс компании </a:t>
            </a:r>
            <a:r>
              <a:rPr lang="en-US" sz="4000" dirty="0" smtClean="0"/>
              <a:t>HERE:</a:t>
            </a:r>
          </a:p>
          <a:p>
            <a:r>
              <a:rPr lang="ru-RU" sz="4000" dirty="0" smtClean="0"/>
              <a:t>Модуль получения информации об инфраструктуре для</a:t>
            </a:r>
            <a:r>
              <a:rPr lang="en-US" sz="4000" dirty="0" smtClean="0"/>
              <a:t> </a:t>
            </a:r>
            <a:r>
              <a:rPr lang="ru-RU" sz="4000" dirty="0" smtClean="0"/>
              <a:t>сервисов продажи и сдачи недвижимости</a:t>
            </a:r>
            <a:endParaRPr lang="ru-RU" sz="4000" dirty="0"/>
          </a:p>
        </p:txBody>
      </p:sp>
      <p:pic>
        <p:nvPicPr>
          <p:cNvPr id="10" name="Picture 2" descr="Лайфхак: как семье с детьми сэкономить 2 млн руб. при покупке квартиры в  ипотеку?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341" y="2584557"/>
            <a:ext cx="7067862" cy="3926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8984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/>
          <p:cNvSpPr txBox="1">
            <a:spLocks/>
          </p:cNvSpPr>
          <p:nvPr/>
        </p:nvSpPr>
        <p:spPr>
          <a:xfrm>
            <a:off x="1776770" y="3503054"/>
            <a:ext cx="8101325" cy="12524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21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8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6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endParaRPr lang="ru-RU" sz="5400" dirty="0"/>
          </a:p>
        </p:txBody>
      </p:sp>
      <p:pic>
        <p:nvPicPr>
          <p:cNvPr id="8" name="Picture 2" descr="Аналитики дали прогноз цен на недвижимость в Москве - МК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922" y="1707182"/>
            <a:ext cx="5355389" cy="4011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Давай поговорим? Про ЦИАН. - блоги риэлторов | ЦИАН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8352" y="1265418"/>
            <a:ext cx="3938289" cy="1567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Яндекс недвижимость (realty yandex ru) - продажа и аренда недвижимости в  России | Doska.info - доска объявлений | Яндекс Дзен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1472" y="2959167"/>
            <a:ext cx="2792048" cy="1507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Domofond.ru. Игроки рынка на CRE.ru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9679" y="4593182"/>
            <a:ext cx="5111609" cy="1603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Подзаголовок 2"/>
          <p:cNvSpPr txBox="1">
            <a:spLocks/>
          </p:cNvSpPr>
          <p:nvPr/>
        </p:nvSpPr>
        <p:spPr>
          <a:xfrm>
            <a:off x="0" y="178623"/>
            <a:ext cx="12067503" cy="313761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21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8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6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ru-RU" sz="4400" dirty="0" smtClean="0"/>
              <a:t>Сервисы продажи и сдачи недвижимости</a:t>
            </a:r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1610680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дзаголовок 2"/>
          <p:cNvSpPr txBox="1">
            <a:spLocks/>
          </p:cNvSpPr>
          <p:nvPr/>
        </p:nvSpPr>
        <p:spPr>
          <a:xfrm>
            <a:off x="0" y="178623"/>
            <a:ext cx="12067503" cy="128956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21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8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6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ru-RU" sz="4400" dirty="0" smtClean="0"/>
              <a:t>Постановка задачи</a:t>
            </a:r>
            <a:endParaRPr lang="ru-RU" sz="44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629987" y="1242297"/>
            <a:ext cx="1060038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cap="small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Цель</a:t>
            </a:r>
            <a:r>
              <a:rPr lang="en-US" sz="3200" cap="small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: </a:t>
            </a:r>
            <a:r>
              <a:rPr lang="ru-RU" sz="3200" cap="small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создать программный модуль, позволяющий владельцам сервисов </a:t>
            </a:r>
            <a:r>
              <a:rPr lang="ru-RU" sz="3200" cap="small" dirty="0" smtClean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делать</a:t>
            </a:r>
            <a:r>
              <a:rPr lang="en-US" sz="3200" cap="small" dirty="0" smtClean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 </a:t>
            </a:r>
            <a:r>
              <a:rPr lang="ru-RU" sz="3200" cap="small" dirty="0" smtClean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предложения</a:t>
            </a:r>
            <a:r>
              <a:rPr lang="ru-RU" sz="3200" cap="small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, соответствующие ожиданиям </a:t>
            </a:r>
            <a:r>
              <a:rPr lang="ru-RU" sz="3200" cap="small" dirty="0" smtClean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клиентов</a:t>
            </a:r>
            <a:r>
              <a:rPr lang="en-US" sz="3200" cap="small" dirty="0" smtClean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.</a:t>
            </a:r>
            <a:endParaRPr lang="ru-RU" sz="3200" cap="small" dirty="0">
              <a:gradFill flip="none" rotWithShape="1">
                <a:gsLst>
                  <a:gs pos="0">
                    <a:schemeClr val="tx1"/>
                  </a:gs>
                  <a:gs pos="100000">
                    <a:schemeClr val="tx1">
                      <a:lumMod val="75000"/>
                    </a:schemeClr>
                  </a:gs>
                </a:gsLst>
                <a:lin ang="5400000" scaled="0"/>
                <a:tileRect/>
              </a:gradFill>
              <a:effectLst>
                <a:glow rad="38100">
                  <a:schemeClr val="bg1">
                    <a:lumMod val="50000"/>
                    <a:lumOff val="50000"/>
                    <a:alpha val="20000"/>
                  </a:scheme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  <p:pic>
        <p:nvPicPr>
          <p:cNvPr id="3074" name="Picture 2" descr="Покупка недвижимости через агентство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8944" y="2750807"/>
            <a:ext cx="5820222" cy="3907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5956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одзаголовок 2"/>
          <p:cNvSpPr txBox="1">
            <a:spLocks/>
          </p:cNvSpPr>
          <p:nvPr/>
        </p:nvSpPr>
        <p:spPr>
          <a:xfrm>
            <a:off x="180304" y="978794"/>
            <a:ext cx="10779619" cy="233107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21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8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6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ru-RU" sz="3200" dirty="0" smtClean="0"/>
              <a:t>Преимущества для владельцев сервиса</a:t>
            </a:r>
            <a:r>
              <a:rPr lang="en-US" sz="3200" dirty="0" smtClean="0"/>
              <a:t>:</a:t>
            </a:r>
          </a:p>
          <a:p>
            <a:r>
              <a:rPr lang="ru-RU" sz="3200" dirty="0"/>
              <a:t>У</a:t>
            </a:r>
            <a:r>
              <a:rPr lang="ru-RU" sz="3200" dirty="0" smtClean="0"/>
              <a:t>величение конверсии за счёт использования </a:t>
            </a:r>
            <a:r>
              <a:rPr lang="ru-RU" sz="3200" dirty="0" err="1" smtClean="0"/>
              <a:t>таргетированной</a:t>
            </a:r>
            <a:r>
              <a:rPr lang="ru-RU" sz="3200" dirty="0" smtClean="0"/>
              <a:t> рекламы на основе анализа возраста клиентов</a:t>
            </a:r>
            <a:endParaRPr lang="ru-RU" sz="3200" dirty="0"/>
          </a:p>
        </p:txBody>
      </p:sp>
      <p:sp>
        <p:nvSpPr>
          <p:cNvPr id="12" name="Подзаголовок 2"/>
          <p:cNvSpPr txBox="1">
            <a:spLocks/>
          </p:cNvSpPr>
          <p:nvPr/>
        </p:nvSpPr>
        <p:spPr>
          <a:xfrm>
            <a:off x="180304" y="3775194"/>
            <a:ext cx="11140228" cy="186575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21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8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6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ru-RU" sz="3200" dirty="0" smtClean="0"/>
              <a:t>Преимущества для клиентов сервиса</a:t>
            </a:r>
            <a:r>
              <a:rPr lang="en-US" sz="3200" dirty="0" smtClean="0"/>
              <a:t>:</a:t>
            </a:r>
          </a:p>
          <a:p>
            <a:r>
              <a:rPr lang="ru-RU" sz="3200" dirty="0" smtClean="0"/>
              <a:t>Возможность получить информацию об инфраструктуре жилья</a:t>
            </a:r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2684932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2" name="Picture 6" descr="Here Technologies - Wikipedi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366" y="2154170"/>
            <a:ext cx="3620012" cy="3297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 descr="Портал открытых данных правительства Москвы обновлен по просьбам москвичей  | Data.gov.ru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4543" y="3802784"/>
            <a:ext cx="4276725" cy="211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0" name="Picture 14" descr="What is Google Colab?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2538" y="1848247"/>
            <a:ext cx="3900734" cy="1724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Подзаголовок 2"/>
          <p:cNvSpPr txBox="1">
            <a:spLocks/>
          </p:cNvSpPr>
          <p:nvPr/>
        </p:nvSpPr>
        <p:spPr>
          <a:xfrm>
            <a:off x="0" y="178623"/>
            <a:ext cx="12067503" cy="313761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21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8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6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ru-RU" sz="4400" dirty="0" smtClean="0"/>
              <a:t>Стек использованных технологий</a:t>
            </a:r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1665344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одзаголовок 2"/>
          <p:cNvSpPr txBox="1">
            <a:spLocks/>
          </p:cNvSpPr>
          <p:nvPr/>
        </p:nvSpPr>
        <p:spPr>
          <a:xfrm>
            <a:off x="0" y="178623"/>
            <a:ext cx="12067503" cy="313761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21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8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6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ru-RU" sz="4400" dirty="0" smtClean="0"/>
              <a:t>Стек использованных технологий</a:t>
            </a:r>
            <a:endParaRPr lang="ru-RU" sz="4400" dirty="0"/>
          </a:p>
        </p:txBody>
      </p:sp>
      <p:sp>
        <p:nvSpPr>
          <p:cNvPr id="8" name="Подзаголовок 2"/>
          <p:cNvSpPr txBox="1">
            <a:spLocks/>
          </p:cNvSpPr>
          <p:nvPr/>
        </p:nvSpPr>
        <p:spPr>
          <a:xfrm>
            <a:off x="489397" y="985163"/>
            <a:ext cx="10779619" cy="233107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21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8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6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ru-RU" sz="3200" dirty="0" smtClean="0"/>
              <a:t>Изолиния</a:t>
            </a:r>
            <a:r>
              <a:rPr lang="en-US" sz="3200" dirty="0" smtClean="0"/>
              <a:t> –</a:t>
            </a:r>
            <a:r>
              <a:rPr lang="ru-RU" sz="3200" dirty="0" smtClean="0"/>
              <a:t>линия, до точек которой можно добраться из начальной за фиксированное время.</a:t>
            </a:r>
            <a:endParaRPr lang="ru-RU" sz="3200" dirty="0"/>
          </a:p>
        </p:txBody>
      </p:sp>
      <p:pic>
        <p:nvPicPr>
          <p:cNvPr id="6150" name="Picture 6" descr="https://sun9-68.userapi.com/impg/VWmgx8VR_Hl4oOktQJw9vV6fD3oHKgw4W3nzAg/YFSoFNLpVZs.jpg?size=854x503&amp;quality=96&amp;sign=8485f7ef3b21f95759ef93e28d7c7268&amp;type=albu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0131" y="2318196"/>
            <a:ext cx="7325191" cy="4314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1324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одзаголовок 2"/>
          <p:cNvSpPr txBox="1">
            <a:spLocks/>
          </p:cNvSpPr>
          <p:nvPr/>
        </p:nvSpPr>
        <p:spPr>
          <a:xfrm>
            <a:off x="0" y="178623"/>
            <a:ext cx="12067503" cy="313761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21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8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6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ru-RU" sz="4400" dirty="0" smtClean="0"/>
              <a:t>Стек использованных технологий</a:t>
            </a:r>
            <a:endParaRPr lang="ru-RU" sz="4400" dirty="0"/>
          </a:p>
        </p:txBody>
      </p:sp>
      <p:pic>
        <p:nvPicPr>
          <p:cNvPr id="6148" name="Picture 4" descr="https://sun9-46.userapi.com/impg/m6P16W-3WAiZ6xLuTOGTZBhuN5VXymUPE9o6FQ/YWS2Zv8lH30.jpg?size=1060x654&amp;quality=96&amp;sign=cb8fa8461e7ef005fa1a640d2814fe5d&amp;type=albu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5890" y="2277033"/>
            <a:ext cx="7275536" cy="4488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одзаголовок 2"/>
          <p:cNvSpPr txBox="1">
            <a:spLocks/>
          </p:cNvSpPr>
          <p:nvPr/>
        </p:nvSpPr>
        <p:spPr>
          <a:xfrm>
            <a:off x="489397" y="985163"/>
            <a:ext cx="10779619" cy="233107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21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8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6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ru-RU" sz="3200" dirty="0" smtClean="0"/>
              <a:t>Изолиния</a:t>
            </a:r>
            <a:r>
              <a:rPr lang="en-US" sz="3200" dirty="0" smtClean="0"/>
              <a:t> –</a:t>
            </a:r>
            <a:r>
              <a:rPr lang="ru-RU" sz="3200" dirty="0" smtClean="0"/>
              <a:t>линия, до точек которой можно добраться из начальной за фиксированное время.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995827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одзаголовок 2"/>
          <p:cNvSpPr txBox="1">
            <a:spLocks/>
          </p:cNvSpPr>
          <p:nvPr/>
        </p:nvSpPr>
        <p:spPr>
          <a:xfrm>
            <a:off x="0" y="178623"/>
            <a:ext cx="12067503" cy="313761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21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8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6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ru-RU" sz="4400" dirty="0" smtClean="0"/>
              <a:t>Принцип работы</a:t>
            </a:r>
            <a:endParaRPr lang="ru-RU" sz="4400" dirty="0"/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>
          <a:xfrm>
            <a:off x="515155" y="1378739"/>
            <a:ext cx="10779619" cy="233107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21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8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6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ru-RU" sz="3200" dirty="0" smtClean="0"/>
              <a:t>На основе данных, полученных с сайта </a:t>
            </a:r>
            <a:r>
              <a:rPr lang="en-US" sz="3200" dirty="0" smtClean="0"/>
              <a:t>mos.ru</a:t>
            </a:r>
            <a:r>
              <a:rPr lang="ru-RU" sz="3200" dirty="0" smtClean="0"/>
              <a:t>,</a:t>
            </a:r>
            <a:r>
              <a:rPr lang="en-US" sz="3200" dirty="0" smtClean="0"/>
              <a:t> </a:t>
            </a:r>
            <a:r>
              <a:rPr lang="ru-RU" sz="3200" dirty="0" smtClean="0"/>
              <a:t>и с помощью</a:t>
            </a:r>
            <a:r>
              <a:rPr lang="en-US" sz="3200" dirty="0" smtClean="0"/>
              <a:t> </a:t>
            </a:r>
            <a:r>
              <a:rPr lang="ru-RU" sz="3200" dirty="0" smtClean="0"/>
              <a:t>функционала с сайта </a:t>
            </a:r>
            <a:r>
              <a:rPr lang="en-US" sz="3200" dirty="0" err="1" smtClean="0"/>
              <a:t>xyz.api.here</a:t>
            </a:r>
            <a:r>
              <a:rPr lang="en-US" sz="3200" dirty="0" smtClean="0"/>
              <a:t> </a:t>
            </a:r>
            <a:r>
              <a:rPr lang="ru-RU" sz="3200" dirty="0" smtClean="0"/>
              <a:t>для выбранной на карте точки, модуль находит объекты инфраструктуры, до которых можно добраться за заданное время.</a:t>
            </a:r>
            <a:endParaRPr lang="ru-RU" sz="3200" dirty="0"/>
          </a:p>
        </p:txBody>
      </p:sp>
      <p:sp>
        <p:nvSpPr>
          <p:cNvPr id="6" name="Подзаголовок 2"/>
          <p:cNvSpPr txBox="1">
            <a:spLocks/>
          </p:cNvSpPr>
          <p:nvPr/>
        </p:nvSpPr>
        <p:spPr>
          <a:xfrm>
            <a:off x="643941" y="4103390"/>
            <a:ext cx="10779619" cy="233107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21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8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6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ru-RU" sz="3200" dirty="0" smtClean="0"/>
              <a:t>Модуль рассчитывает возрастные категории потенциальных покупателей, а также составляет рейтинг жилья, основываясь на информации о ближайших объектах инфраструктуры.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358626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одзаголовок 2"/>
          <p:cNvSpPr txBox="1">
            <a:spLocks/>
          </p:cNvSpPr>
          <p:nvPr/>
        </p:nvSpPr>
        <p:spPr>
          <a:xfrm>
            <a:off x="0" y="178623"/>
            <a:ext cx="12067503" cy="313761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21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8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6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ru-RU" sz="4400" dirty="0" smtClean="0"/>
              <a:t>Принцип работы</a:t>
            </a:r>
            <a:endParaRPr lang="ru-RU" sz="4400" dirty="0"/>
          </a:p>
        </p:txBody>
      </p:sp>
      <p:pic>
        <p:nvPicPr>
          <p:cNvPr id="7" name="Picture 2" descr="https://sun9-39.userapi.com/impg/V2i5EkmvuudIC9B1TFcJzqvUu6cIr2L169kdlw/Qa8xp_MqFQo.jpg?size=1022x596&amp;quality=96&amp;sign=9d18c606fe499d4c675ddeab59840487&amp;type=albu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702" y="1114666"/>
            <a:ext cx="9285154" cy="541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2774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одзаголовок 2"/>
          <p:cNvSpPr txBox="1">
            <a:spLocks/>
          </p:cNvSpPr>
          <p:nvPr/>
        </p:nvSpPr>
        <p:spPr>
          <a:xfrm>
            <a:off x="0" y="178623"/>
            <a:ext cx="12067503" cy="313761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21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8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6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ru-RU" sz="4400" dirty="0" smtClean="0"/>
              <a:t>Принцип работы</a:t>
            </a:r>
            <a:endParaRPr lang="ru-RU" sz="4400" dirty="0"/>
          </a:p>
        </p:txBody>
      </p:sp>
      <p:pic>
        <p:nvPicPr>
          <p:cNvPr id="9218" name="Picture 2" descr="https://sun9-18.userapi.com/impg/LyiIlicBcyswpWSZ2U8EtwOSIMuDcEIa6ymMyw/n_fNuBr3Ebg.jpg?size=1372x641&amp;quality=96&amp;sign=28be7de7be794c628383aba9b5ba0773&amp;type=albu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664" y="1292991"/>
            <a:ext cx="11098174" cy="5185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3778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одзаголовок 2"/>
          <p:cNvSpPr txBox="1">
            <a:spLocks/>
          </p:cNvSpPr>
          <p:nvPr/>
        </p:nvSpPr>
        <p:spPr>
          <a:xfrm>
            <a:off x="0" y="178623"/>
            <a:ext cx="12067503" cy="313761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21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8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6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ru-RU" sz="4400" dirty="0" smtClean="0"/>
              <a:t>Заключение</a:t>
            </a:r>
            <a:endParaRPr lang="ru-RU" sz="4400" dirty="0"/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>
          <a:xfrm>
            <a:off x="-1952274" y="1086972"/>
            <a:ext cx="10779619" cy="103063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21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8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6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ru-RU" sz="3200" dirty="0" smtClean="0"/>
              <a:t>Созданный нами модуль</a:t>
            </a:r>
            <a:r>
              <a:rPr lang="en-US" sz="3200" dirty="0" smtClean="0"/>
              <a:t>:</a:t>
            </a:r>
            <a:endParaRPr lang="ru-RU" sz="3200" dirty="0"/>
          </a:p>
        </p:txBody>
      </p:sp>
      <p:sp>
        <p:nvSpPr>
          <p:cNvPr id="6" name="Подзаголовок 2"/>
          <p:cNvSpPr txBox="1">
            <a:spLocks/>
          </p:cNvSpPr>
          <p:nvPr/>
        </p:nvSpPr>
        <p:spPr>
          <a:xfrm>
            <a:off x="643941" y="1921435"/>
            <a:ext cx="10779619" cy="233107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21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8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6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ru-RU" sz="3200" dirty="0" smtClean="0"/>
              <a:t>Определяет, до каких объектов инфраструктуры можно добраться за фиксированное время (в рассматриваемом случае 5, 15, 30 мин)</a:t>
            </a:r>
            <a:r>
              <a:rPr lang="en-US" sz="3200" dirty="0" smtClean="0"/>
              <a:t>;</a:t>
            </a:r>
            <a:endParaRPr lang="ru-RU" sz="3200" dirty="0" smtClean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ru-RU" sz="3200" dirty="0" smtClean="0"/>
              <a:t>Рассчитывает рейтинг жилья на основе информации о ближайших объектах инфраструктуры</a:t>
            </a:r>
            <a:r>
              <a:rPr lang="en-US" sz="3200" dirty="0" smtClean="0"/>
              <a:t>;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ru-RU" sz="3200" dirty="0" smtClean="0"/>
              <a:t>Вычисляет возрастную категорию покупателей, для которой предлагаемое жильё будет наиболее предпочтительным.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608810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93183" y="2777007"/>
            <a:ext cx="11629623" cy="1094704"/>
          </a:xfrm>
        </p:spPr>
        <p:txBody>
          <a:bodyPr>
            <a:normAutofit/>
          </a:bodyPr>
          <a:lstStyle/>
          <a:p>
            <a:pPr algn="ctr"/>
            <a:r>
              <a:rPr lang="ru-RU" sz="5400" dirty="0" smtClean="0">
                <a:solidFill>
                  <a:schemeClr val="tx1"/>
                </a:solidFill>
              </a:rPr>
              <a:t>Спасибо за внимание!</a:t>
            </a:r>
            <a:endParaRPr lang="ru-RU" sz="5400" dirty="0">
              <a:solidFill>
                <a:schemeClr val="tx1"/>
              </a:solidFill>
            </a:endParaRPr>
          </a:p>
        </p:txBody>
      </p:sp>
      <p:sp>
        <p:nvSpPr>
          <p:cNvPr id="6" name="Подзаголовок 2"/>
          <p:cNvSpPr txBox="1">
            <a:spLocks/>
          </p:cNvSpPr>
          <p:nvPr/>
        </p:nvSpPr>
        <p:spPr>
          <a:xfrm>
            <a:off x="1776770" y="3503054"/>
            <a:ext cx="8101325" cy="12524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21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8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6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endParaRPr lang="ru-RU" sz="5400" dirty="0"/>
          </a:p>
        </p:txBody>
      </p:sp>
    </p:spTree>
    <p:extLst>
      <p:ext uri="{BB962C8B-B14F-4D97-AF65-F5344CB8AC3E}">
        <p14:creationId xmlns:p14="http://schemas.microsoft.com/office/powerpoint/2010/main" val="1528673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Грань">
  <a:themeElements>
    <a:clrScheme name="Другая 2">
      <a:dk1>
        <a:srgbClr val="3F3F3F"/>
      </a:dk1>
      <a:lt1>
        <a:sysClr val="window" lastClr="FFFFFF"/>
      </a:lt1>
      <a:dk2>
        <a:srgbClr val="2F2F2F"/>
      </a:dk2>
      <a:lt2>
        <a:srgbClr val="DBEFF9"/>
      </a:lt2>
      <a:accent1>
        <a:srgbClr val="0F6FC6"/>
      </a:accent1>
      <a:accent2>
        <a:srgbClr val="7BE1B3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Грань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рань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236</TotalTime>
  <Words>225</Words>
  <Application>Microsoft Office PowerPoint</Application>
  <PresentationFormat>Широкоэкранный</PresentationFormat>
  <Paragraphs>26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Trebuchet MS</vt:lpstr>
      <vt:lpstr>Wingdings 3</vt:lpstr>
      <vt:lpstr>Грань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111</dc:creator>
  <cp:lastModifiedBy>Роман</cp:lastModifiedBy>
  <cp:revision>19</cp:revision>
  <dcterms:created xsi:type="dcterms:W3CDTF">2021-05-30T09:29:16Z</dcterms:created>
  <dcterms:modified xsi:type="dcterms:W3CDTF">2021-09-06T15:24:00Z</dcterms:modified>
</cp:coreProperties>
</file>